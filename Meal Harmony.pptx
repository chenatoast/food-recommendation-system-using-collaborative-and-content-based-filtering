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21"/>
  </p:notesMasterIdLst>
  <p:sldIdLst>
    <p:sldId id="1864" r:id="rId5"/>
    <p:sldId id="1875" r:id="rId6"/>
    <p:sldId id="1876" r:id="rId7"/>
    <p:sldId id="1845" r:id="rId8"/>
    <p:sldId id="1868" r:id="rId9"/>
    <p:sldId id="1869" r:id="rId10"/>
    <p:sldId id="1870" r:id="rId11"/>
    <p:sldId id="1871" r:id="rId12"/>
    <p:sldId id="1872" r:id="rId13"/>
    <p:sldId id="1873" r:id="rId14"/>
    <p:sldId id="1874" r:id="rId15"/>
    <p:sldId id="1877" r:id="rId16"/>
    <p:sldId id="1848" r:id="rId17"/>
    <p:sldId id="1878" r:id="rId18"/>
    <p:sldId id="1879" r:id="rId19"/>
    <p:sldId id="1858" r:id="rId2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387"/>
    <a:srgbClr val="FF2625"/>
    <a:srgbClr val="007788"/>
    <a:srgbClr val="297C2A"/>
    <a:srgbClr val="F69000"/>
    <a:srgbClr val="01C2D1"/>
    <a:srgbClr val="D6D734"/>
    <a:srgbClr val="005C68"/>
    <a:srgbClr val="3B2E58"/>
    <a:srgbClr val="6B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24" autoAdjust="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3642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3227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13208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3417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0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314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B60B1-BEF5-4848-BB02-98EBFE355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1158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7DC18506-6205-438F-AA5C-D337F9975FC3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757381" y="2591662"/>
            <a:ext cx="10667999" cy="2833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927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FD563C5-3DFB-47DD-8A9E-30D8084590F6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762001" y="2369129"/>
            <a:ext cx="10667998" cy="3343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2012" y="2766219"/>
            <a:ext cx="6220101" cy="1325563"/>
          </a:xfrm>
        </p:spPr>
        <p:txBody>
          <a:bodyPr anchor="ctr">
            <a:no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Meal Harmony: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chemeClr val="accent2"/>
                </a:solidFill>
              </a:rPr>
              <a:t>Using Machine Learning to Simplify Food Choices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679" y="3257728"/>
            <a:ext cx="9141397" cy="615553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715403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748589"/>
            <a:ext cx="6340929" cy="4842713"/>
          </a:xfrm>
        </p:spPr>
        <p:txBody>
          <a:bodyPr/>
          <a:lstStyle/>
          <a:p>
            <a:r>
              <a:rPr lang="en-IN" sz="2800" dirty="0">
                <a:latin typeface="Calibri" panose="020F0502020204030204" pitchFamily="34" charset="0"/>
                <a:ea typeface="Aptos" panose="020B0004020202020204" pitchFamily="34" charset="0"/>
              </a:rPr>
              <a:t>P</a:t>
            </a:r>
            <a:r>
              <a:rPr lang="en-IN" sz="2800" dirty="0"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roject aims to solve this problem by creating a system that suggests personalized meal options using mathematical analysis by stats.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60349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679" y="3257728"/>
            <a:ext cx="9141397" cy="615553"/>
          </a:xfrm>
        </p:spPr>
        <p:txBody>
          <a:bodyPr/>
          <a:lstStyle/>
          <a:p>
            <a:r>
              <a:rPr lang="en-US" dirty="0"/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80354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/>
              <a:t>Introduction to the Project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257927"/>
            <a:ext cx="6340929" cy="327660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en-US" dirty="0"/>
              <a:t>Daily household problems</a:t>
            </a:r>
          </a:p>
          <a:p>
            <a:r>
              <a:rPr lang="en-US" altLang="en-US" dirty="0"/>
              <a:t>	Repetitive and Unhealthy instant options to eat</a:t>
            </a:r>
          </a:p>
          <a:p>
            <a:r>
              <a:rPr lang="en-US" altLang="en-US" dirty="0"/>
              <a:t>	Health Issues</a:t>
            </a:r>
          </a:p>
          <a:p>
            <a:r>
              <a:rPr lang="en-US" altLang="en-US" dirty="0"/>
              <a:t>	Ingredients Unavailability</a:t>
            </a:r>
          </a:p>
          <a:p>
            <a:r>
              <a:rPr lang="en-US" altLang="en-US" dirty="0"/>
              <a:t>	Weather Conditions</a:t>
            </a:r>
          </a:p>
          <a:p>
            <a:pPr marL="285750" indent="-285750">
              <a:buFontTx/>
              <a:buChar char="-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007969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/>
              <a:t>Introduction to the Project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257927"/>
            <a:ext cx="6340929" cy="327660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en-US" dirty="0"/>
              <a:t>Daily household problems</a:t>
            </a:r>
          </a:p>
          <a:p>
            <a:r>
              <a:rPr lang="en-US" altLang="en-US" dirty="0"/>
              <a:t>	Repetitive and Unhealthy instant options to eat</a:t>
            </a:r>
          </a:p>
          <a:p>
            <a:r>
              <a:rPr lang="en-US" altLang="en-US" dirty="0"/>
              <a:t>	Health Issues</a:t>
            </a:r>
          </a:p>
          <a:p>
            <a:r>
              <a:rPr lang="en-US" altLang="en-US" dirty="0"/>
              <a:t>	Ingredients Unavailability</a:t>
            </a:r>
          </a:p>
          <a:p>
            <a:r>
              <a:rPr lang="en-US" altLang="en-US" dirty="0"/>
              <a:t>	Weather Conditions</a:t>
            </a:r>
          </a:p>
          <a:p>
            <a:pPr marL="285750" indent="-285750">
              <a:buFontTx/>
              <a:buChar char="-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61898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/>
              <a:t>Introduction to the Project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257927"/>
            <a:ext cx="6340929" cy="327660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en-US" dirty="0"/>
              <a:t>Daily household problems</a:t>
            </a:r>
          </a:p>
          <a:p>
            <a:r>
              <a:rPr lang="en-US" altLang="en-US" dirty="0"/>
              <a:t>	Repetitive and Unhealthy instant options to eat</a:t>
            </a:r>
          </a:p>
          <a:p>
            <a:r>
              <a:rPr lang="en-US" altLang="en-US" dirty="0"/>
              <a:t>	Health Issues</a:t>
            </a:r>
          </a:p>
          <a:p>
            <a:r>
              <a:rPr lang="en-US" altLang="en-US" dirty="0"/>
              <a:t>	Ingredients Unavailability</a:t>
            </a:r>
          </a:p>
          <a:p>
            <a:r>
              <a:rPr lang="en-US" altLang="en-US" dirty="0"/>
              <a:t>	Weather Conditions</a:t>
            </a:r>
          </a:p>
          <a:p>
            <a:pPr marL="285750" indent="-285750">
              <a:buFontTx/>
              <a:buChar char="-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75961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/>
              <a:t>Introduction to the Project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257927"/>
            <a:ext cx="6340929" cy="327660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en-US" dirty="0"/>
              <a:t>Daily household problems</a:t>
            </a:r>
          </a:p>
          <a:p>
            <a:r>
              <a:rPr lang="en-US" altLang="en-US" dirty="0"/>
              <a:t>	Repetitive and Unhealthy instant options to eat</a:t>
            </a:r>
          </a:p>
          <a:p>
            <a:r>
              <a:rPr lang="en-US" altLang="en-US" dirty="0"/>
              <a:t>	Health Issues</a:t>
            </a:r>
          </a:p>
          <a:p>
            <a:r>
              <a:rPr lang="en-US" altLang="en-US" dirty="0"/>
              <a:t>	Ingredients Unavailability</a:t>
            </a:r>
          </a:p>
          <a:p>
            <a:r>
              <a:rPr lang="en-US" altLang="en-US" dirty="0"/>
              <a:t>	Weather Conditions</a:t>
            </a:r>
          </a:p>
          <a:p>
            <a:pPr marL="285750" indent="-285750">
              <a:buFontTx/>
              <a:buChar char="-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8905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/>
              <a:t>Time aware food recommendation system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049378"/>
            <a:ext cx="6340929" cy="4207041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en-US" sz="2000" dirty="0"/>
              <a:t>Rostami, </a:t>
            </a:r>
            <a:r>
              <a:rPr lang="en-US" altLang="en-US" sz="2000" dirty="0" err="1"/>
              <a:t>mourad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farrahi</a:t>
            </a:r>
            <a:r>
              <a:rPr lang="en-US" altLang="en-US" sz="2000" dirty="0"/>
              <a:t> 2022</a:t>
            </a:r>
          </a:p>
          <a:p>
            <a:pPr marL="285750" indent="-285750">
              <a:buFontTx/>
              <a:buChar char="-"/>
            </a:pPr>
            <a:r>
              <a:rPr lang="en-US" altLang="en-US" sz="2000" dirty="0"/>
              <a:t>Better dietary choices</a:t>
            </a:r>
          </a:p>
          <a:p>
            <a:pPr marL="285750" indent="-285750">
              <a:buFontTx/>
              <a:buChar char="-"/>
            </a:pPr>
            <a:r>
              <a:rPr lang="en-US" altLang="en-US" sz="2000" dirty="0"/>
              <a:t>Integration into various lifestyles, new users, food items, communities</a:t>
            </a:r>
          </a:p>
          <a:p>
            <a:pPr marL="285750" indent="-285750">
              <a:buFontTx/>
              <a:buChar char="-"/>
            </a:pPr>
            <a:r>
              <a:rPr lang="en-US" altLang="en-US" sz="2000" dirty="0"/>
              <a:t>Methodology- graph clustering for similarities using similarity matrix- predicts new using historic data and similarities among users.</a:t>
            </a:r>
          </a:p>
          <a:p>
            <a:pPr marL="285750" indent="-285750">
              <a:buFontTx/>
              <a:buChar char="-"/>
            </a:pPr>
            <a:r>
              <a:rPr lang="en-US" altLang="en-US" sz="2000" dirty="0"/>
              <a:t>recommends top-rated options to users, combining user-based and content-based predictions.</a:t>
            </a:r>
          </a:p>
          <a:p>
            <a:pPr marL="285750" indent="-285750">
              <a:buFontTx/>
              <a:buChar char="-"/>
            </a:pPr>
            <a:r>
              <a:rPr lang="en-US" altLang="en-US" sz="2000" dirty="0"/>
              <a:t>Time Dynamics to enhance quality</a:t>
            </a:r>
          </a:p>
        </p:txBody>
      </p:sp>
    </p:spTree>
    <p:extLst>
      <p:ext uri="{BB962C8B-B14F-4D97-AF65-F5344CB8AC3E}">
        <p14:creationId xmlns:p14="http://schemas.microsoft.com/office/powerpoint/2010/main" val="4243551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/>
              <a:t>Recipe recommendation system using machine learning models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2865439"/>
            <a:ext cx="6340929" cy="327660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en-US" dirty="0" err="1"/>
              <a:t>suyash</a:t>
            </a:r>
            <a:r>
              <a:rPr lang="en-US" altLang="en-US" dirty="0"/>
              <a:t> </a:t>
            </a:r>
            <a:r>
              <a:rPr lang="en-US" altLang="en-US" dirty="0" err="1"/>
              <a:t>maheshwari</a:t>
            </a:r>
            <a:r>
              <a:rPr lang="en-US" altLang="en-US" dirty="0"/>
              <a:t> , </a:t>
            </a:r>
            <a:r>
              <a:rPr lang="en-US" altLang="en-US" dirty="0" err="1"/>
              <a:t>mansas</a:t>
            </a:r>
            <a:r>
              <a:rPr lang="en-US" altLang="en-US" dirty="0"/>
              <a:t> </a:t>
            </a:r>
            <a:r>
              <a:rPr lang="en-US" altLang="en-US" dirty="0" err="1"/>
              <a:t>chourey</a:t>
            </a:r>
            <a:r>
              <a:rPr lang="en-US" altLang="en-US" dirty="0"/>
              <a:t> 2019</a:t>
            </a:r>
          </a:p>
          <a:p>
            <a:pPr marL="285750" indent="-285750">
              <a:buFontTx/>
              <a:buChar char="-"/>
            </a:pPr>
            <a:r>
              <a:rPr lang="en-US" altLang="en-US" dirty="0"/>
              <a:t>word2vec </a:t>
            </a:r>
            <a:r>
              <a:rPr lang="en-US" altLang="en-US" dirty="0" err="1"/>
              <a:t>annd</a:t>
            </a:r>
            <a:r>
              <a:rPr lang="en-US" altLang="en-US" dirty="0"/>
              <a:t> vector space models to identify ingredients</a:t>
            </a:r>
          </a:p>
          <a:p>
            <a:pPr marL="285750" indent="-285750">
              <a:buFontTx/>
              <a:buChar char="-"/>
            </a:pPr>
            <a:r>
              <a:rPr lang="en-US" altLang="en-US" dirty="0"/>
              <a:t>Big data Analytics- data collected using web scraping </a:t>
            </a:r>
            <a:r>
              <a:rPr lang="en-US" altLang="en-US" dirty="0" err="1"/>
              <a:t>texhnques</a:t>
            </a:r>
            <a:endParaRPr lang="en-US" altLang="en-US" dirty="0"/>
          </a:p>
          <a:p>
            <a:pPr marL="285750" indent="-285750">
              <a:buFontTx/>
              <a:buChar char="-"/>
            </a:pPr>
            <a:r>
              <a:rPr lang="en-US" altLang="en-US" dirty="0"/>
              <a:t>Non-negative Matrix Factorization (NMF) as a machine learning model to suggest different pairs of ingredients.(feature and coefficient matrices)</a:t>
            </a:r>
          </a:p>
        </p:txBody>
      </p:sp>
    </p:spTree>
    <p:extLst>
      <p:ext uri="{BB962C8B-B14F-4D97-AF65-F5344CB8AC3E}">
        <p14:creationId xmlns:p14="http://schemas.microsoft.com/office/powerpoint/2010/main" val="2000392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7BA0B6F-5258-479C-87B7-C806E6757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1"/>
            <a:ext cx="6477000" cy="1189038"/>
          </a:xfrm>
        </p:spPr>
        <p:txBody>
          <a:bodyPr/>
          <a:lstStyle/>
          <a:p>
            <a:r>
              <a:rPr lang="en-US" dirty="0"/>
              <a:t>Food Recommender System considering Nutritional </a:t>
            </a:r>
            <a:r>
              <a:rPr lang="en-US" dirty="0" err="1"/>
              <a:t>Infromation</a:t>
            </a:r>
            <a:r>
              <a:rPr lang="en-US" dirty="0"/>
              <a:t> and User preferences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36812B-2065-4A2B-B59B-8957022687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3314702"/>
            <a:ext cx="6340929" cy="327660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en-US" dirty="0"/>
              <a:t>Toledo, </a:t>
            </a:r>
            <a:r>
              <a:rPr lang="en-US" altLang="en-US" dirty="0" err="1"/>
              <a:t>Alzahrani</a:t>
            </a:r>
            <a:r>
              <a:rPr lang="en-US" altLang="en-US" dirty="0"/>
              <a:t>, Martinez 2019</a:t>
            </a:r>
          </a:p>
          <a:p>
            <a:pPr marL="285750" indent="-285750">
              <a:buFontTx/>
              <a:buChar char="-"/>
            </a:pPr>
            <a:r>
              <a:rPr lang="en-US" altLang="en-US" dirty="0"/>
              <a:t>personal choices + nutritional requirements</a:t>
            </a:r>
          </a:p>
          <a:p>
            <a:pPr marL="285750" indent="-285750">
              <a:buFontTx/>
              <a:buChar char="-"/>
            </a:pPr>
            <a:r>
              <a:rPr lang="en-US" altLang="en-US" dirty="0"/>
              <a:t>Multi criteria decision analysis MCDA - to select among multiple conflicting </a:t>
            </a:r>
            <a:r>
              <a:rPr lang="en-US" altLang="en-US" dirty="0" err="1"/>
              <a:t>criterias</a:t>
            </a:r>
            <a:endParaRPr lang="en-US" altLang="en-US" dirty="0"/>
          </a:p>
          <a:p>
            <a:pPr marL="285750" indent="-285750">
              <a:buFontTx/>
              <a:buChar char="-"/>
            </a:pPr>
            <a:r>
              <a:rPr lang="en-US" altLang="en-US" dirty="0"/>
              <a:t>Layers: </a:t>
            </a:r>
            <a:r>
              <a:rPr lang="en-US" altLang="en-US" dirty="0" err="1"/>
              <a:t>Informationn</a:t>
            </a:r>
            <a:r>
              <a:rPr lang="en-US" altLang="en-US" dirty="0"/>
              <a:t> Gathering, user profile dataset, intelligent system, end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2456012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679" y="3257728"/>
            <a:ext cx="9141397" cy="615553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3662724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2AC0E1E-4B92-8AD6-D761-12CB6AD0AF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679" b="4679"/>
          <a:stretch/>
        </p:blipFill>
        <p:spPr>
          <a:xfrm>
            <a:off x="3230245" y="1"/>
            <a:ext cx="5731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7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679" y="3121223"/>
            <a:ext cx="9141397" cy="615553"/>
          </a:xfrm>
        </p:spPr>
        <p:txBody>
          <a:bodyPr/>
          <a:lstStyle/>
          <a:p>
            <a:r>
              <a:rPr lang="en-US" dirty="0"/>
              <a:t>Explanation and Demonstration</a:t>
            </a:r>
          </a:p>
        </p:txBody>
      </p:sp>
    </p:spTree>
    <p:extLst>
      <p:ext uri="{BB962C8B-B14F-4D97-AF65-F5344CB8AC3E}">
        <p14:creationId xmlns:p14="http://schemas.microsoft.com/office/powerpoint/2010/main" val="3121141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679" y="3121223"/>
            <a:ext cx="9141397" cy="615553"/>
          </a:xfrm>
        </p:spPr>
        <p:txBody>
          <a:bodyPr/>
          <a:lstStyle/>
          <a:p>
            <a:r>
              <a:rPr lang="en-US" dirty="0"/>
              <a:t>Future Plan</a:t>
            </a:r>
          </a:p>
        </p:txBody>
      </p:sp>
    </p:spTree>
    <p:extLst>
      <p:ext uri="{BB962C8B-B14F-4D97-AF65-F5344CB8AC3E}">
        <p14:creationId xmlns:p14="http://schemas.microsoft.com/office/powerpoint/2010/main" val="377839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9E38B3-4686-8247-9625-49018D29F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01" y="2645152"/>
            <a:ext cx="9141397" cy="61555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244761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wish American Heritage Month_Win32_JC_SL_v3" id="{5A91364D-DD38-4994-BB9C-41D074FD197A}" vid="{8577DF34-D72C-48EB-902A-0A54C766E0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F283A3-AA81-4663-8764-64F64C723FD1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15C1F8C-D27A-4CE7-9DF4-4AFDB2880F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EE2DFF-920A-42C9-AEE0-3A0BF6AF4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Jewish American Heritage Month presentation</Template>
  <TotalTime>48</TotalTime>
  <Words>308</Words>
  <Application>Microsoft Office PowerPoint</Application>
  <PresentationFormat>Widescreen</PresentationFormat>
  <Paragraphs>56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Meal Harmony: Using Machine Learning to Simplify Food Choices</vt:lpstr>
      <vt:lpstr>Problem Statement</vt:lpstr>
      <vt:lpstr>PowerPoint Presentation</vt:lpstr>
      <vt:lpstr>Literature Review</vt:lpstr>
      <vt:lpstr>Introduction to the Project</vt:lpstr>
      <vt:lpstr>Introduction to the Project</vt:lpstr>
      <vt:lpstr>Introduction to the Project</vt:lpstr>
      <vt:lpstr>Introduction to the Project</vt:lpstr>
      <vt:lpstr>Time aware food recommendation system</vt:lpstr>
      <vt:lpstr>Recipe recommendation system using machine learning models</vt:lpstr>
      <vt:lpstr>Food Recommender System considering Nutritional Infromation and User preferences</vt:lpstr>
      <vt:lpstr>Project Overview</vt:lpstr>
      <vt:lpstr>PowerPoint Presentation</vt:lpstr>
      <vt:lpstr>Explanation and Demonstration</vt:lpstr>
      <vt:lpstr>Future Plan</vt:lpstr>
      <vt:lpstr>Conclusion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Meal Harmony: Using Machine Learning to Simplify Food Choices</dc:title>
  <dc:subject/>
  <dc:creator>Prakhar Jain</dc:creator>
  <cp:keywords/>
  <dc:description/>
  <cp:lastModifiedBy>Prakhar Jain</cp:lastModifiedBy>
  <cp:revision>2</cp:revision>
  <dcterms:created xsi:type="dcterms:W3CDTF">2024-05-02T09:02:36Z</dcterms:created>
  <dcterms:modified xsi:type="dcterms:W3CDTF">2024-05-02T09:51:26Z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